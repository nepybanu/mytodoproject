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100" d="100"/>
          <a:sy n="100" d="100"/>
        </p:scale>
        <p:origin x="-25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848A-8A19-C627-B2AD-3CEC5B622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0F9E3-2C8D-CC2E-13C3-3E163874F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4BA23-2463-7AB5-36FE-D54E4920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E0314-D998-8678-11FD-AC97FBD3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2064E-35F3-03B0-6321-1C2AC2D1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76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172F-D570-DFDB-D67E-721F4614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62B08-4A19-BAC2-DE92-CB644C5A1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A4A7E-CE6E-56DD-148A-0EE14F9EC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2ABA2-95FF-AC21-C38E-FAED53F1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A055C-8BF4-D87C-F8EC-00474773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9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E861-02B5-6E04-F7F7-770AAB13C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53C52-CE74-6DE8-5244-EA97FF52E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C1CC8-3665-BC36-E340-18E88E46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978B-7590-6722-09D6-1E6571D86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8EF37-2068-BC54-D26D-79BF05DA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73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A76E8-F10B-CAB0-E166-3EF457CDA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1BCB-D8E6-ADAE-4C78-6E82DA54B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D3ED0-51B4-D670-7BD3-A7E7938E1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0DBB9-85B6-640E-C645-E98BF1DF5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4C31D-3A4B-B397-9C3E-977E2D1B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33915-E38D-028D-6D21-43CF8403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73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5A25-AB88-19B3-27E9-3B44654CD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08D19-6B2A-AA8C-A9CD-0BC930097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2890C-ACC3-3A6A-22C5-5A81EDAB5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0FD385-9076-0BD6-AB2B-2695C222F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1B528-998A-E450-5A66-9608F1A11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1EB70F-B620-DA35-3332-61F6D28CA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6608F-9556-C75B-1B11-1F812A10D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0765C-718A-8B8B-01C6-1B97BC9F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90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DEBA-2A44-A6C8-413E-D10974DA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9F1595-B343-7CCE-278A-474ADF31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F5A29-11DF-F99D-B45D-B8838F55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79E36-82C7-932A-0D45-083A5D08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26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76FAA-1037-0806-B6D3-574D05F6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597FD-8697-4CB4-3B3D-35EFD4AC5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ADF92-1853-68D4-6D68-B5EC3FD1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2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7D36-EB98-1188-1908-8165A277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C55C0-983A-61E3-46CF-DE91BA30F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C674F-CEEA-0A58-97D2-AB0F0C14D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2D959-FB97-8547-D4FE-C1B45AE0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B5B89-189C-D350-9108-BD77D8F2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31EA5-35DE-76F1-085D-649C2E67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64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7E88-372B-DE65-257B-608F6C51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6B166-B088-73BD-6986-89C51B42B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911B4-F678-41E1-B8ED-EBC644E9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2E10E-25ED-1D1B-9E3F-2EB4BCBA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A3ECE-FE5B-607A-5BCA-D0771DFA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16A27-6ECC-08B3-6B82-56AB3BE4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295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F42E-693B-1E56-7EC0-0D3660EC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93D86-3EC4-95DA-5DF5-62FA39AB6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9689-020F-7923-5044-F4950DD1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378B1-7E72-C8B0-8882-6E1C386E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2DC77-E7FA-EC22-C0E6-D66CD09D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31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E2B74-1197-0EC1-F0F0-AF65600BB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9F35B-0568-958A-99AE-9F5EDA96C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584D4-3A93-754F-542B-1DD957C6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2B2CF-2F15-1FAA-0484-4D44465B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B7F9F-EC9C-6A00-FD72-C7693313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97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CE0F4C-ADDE-6488-9310-BEFD972A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C90B5-21A0-4BA8-6BB0-8C3381B0E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67F60-9734-E99C-0BB9-D8ED48374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A1DA2-6A38-460C-BFCC-037E49E51F88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A665-CF2A-1373-5DE6-0A09C7D4A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9A2DE-54AA-8783-D1DF-E762FBD0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BBF5D-38D3-46ED-8BD5-F2ADFE96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66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Freeform: Shape 390">
            <a:extLst>
              <a:ext uri="{FF2B5EF4-FFF2-40B4-BE49-F238E27FC236}">
                <a16:creationId xmlns:a16="http://schemas.microsoft.com/office/drawing/2014/main" id="{40EED264-17D6-772F-75F3-D657F0E4694D}"/>
              </a:ext>
            </a:extLst>
          </p:cNvPr>
          <p:cNvSpPr/>
          <p:nvPr/>
        </p:nvSpPr>
        <p:spPr>
          <a:xfrm rot="20395405">
            <a:off x="5667811" y="2771694"/>
            <a:ext cx="1837064" cy="2797027"/>
          </a:xfrm>
          <a:custGeom>
            <a:avLst/>
            <a:gdLst>
              <a:gd name="connsiteX0" fmla="*/ 1035195 w 2066452"/>
              <a:gd name="connsiteY0" fmla="*/ 212598 h 2996247"/>
              <a:gd name="connsiteX1" fmla="*/ 1934900 w 2066452"/>
              <a:gd name="connsiteY1" fmla="*/ 704182 h 2996247"/>
              <a:gd name="connsiteX2" fmla="*/ 2066452 w 2066452"/>
              <a:gd name="connsiteY2" fmla="*/ 809913 h 2996247"/>
              <a:gd name="connsiteX3" fmla="*/ 0 w 2066452"/>
              <a:gd name="connsiteY3" fmla="*/ 2996247 h 2996247"/>
              <a:gd name="connsiteX4" fmla="*/ 1 w 2066452"/>
              <a:gd name="connsiteY4" fmla="*/ 0 h 2996247"/>
              <a:gd name="connsiteX5" fmla="*/ 31890 w 2066452"/>
              <a:gd name="connsiteY5" fmla="*/ 989 h 2996247"/>
              <a:gd name="connsiteX6" fmla="*/ 1035195 w 2066452"/>
              <a:gd name="connsiteY6" fmla="*/ 212598 h 2996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6452" h="2996247">
                <a:moveTo>
                  <a:pt x="1035195" y="212598"/>
                </a:moveTo>
                <a:cubicBezTo>
                  <a:pt x="1356312" y="331256"/>
                  <a:pt x="1660162" y="496576"/>
                  <a:pt x="1934900" y="704182"/>
                </a:cubicBezTo>
                <a:lnTo>
                  <a:pt x="2066452" y="809913"/>
                </a:lnTo>
                <a:lnTo>
                  <a:pt x="0" y="2996247"/>
                </a:lnTo>
                <a:lnTo>
                  <a:pt x="1" y="0"/>
                </a:lnTo>
                <a:lnTo>
                  <a:pt x="31890" y="989"/>
                </a:lnTo>
                <a:cubicBezTo>
                  <a:pt x="375695" y="21945"/>
                  <a:pt x="714079" y="93940"/>
                  <a:pt x="1035195" y="212598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90" name="Freeform: Shape 389">
            <a:extLst>
              <a:ext uri="{FF2B5EF4-FFF2-40B4-BE49-F238E27FC236}">
                <a16:creationId xmlns:a16="http://schemas.microsoft.com/office/drawing/2014/main" id="{36B0E27E-F276-1827-1D7B-4DBE3F1F1732}"/>
              </a:ext>
            </a:extLst>
          </p:cNvPr>
          <p:cNvSpPr/>
          <p:nvPr/>
        </p:nvSpPr>
        <p:spPr>
          <a:xfrm rot="20395405">
            <a:off x="4589295" y="3854930"/>
            <a:ext cx="1203734" cy="2299036"/>
          </a:xfrm>
          <a:custGeom>
            <a:avLst/>
            <a:gdLst>
              <a:gd name="connsiteX0" fmla="*/ 1611363 w 1611363"/>
              <a:gd name="connsiteY0" fmla="*/ 2253 h 2974030"/>
              <a:gd name="connsiteX1" fmla="*/ 1611363 w 1611363"/>
              <a:gd name="connsiteY1" fmla="*/ 2974030 h 2974030"/>
              <a:gd name="connsiteX2" fmla="*/ 0 w 1611363"/>
              <a:gd name="connsiteY2" fmla="*/ 371470 h 2974030"/>
              <a:gd name="connsiteX3" fmla="*/ 73655 w 1611363"/>
              <a:gd name="connsiteY3" fmla="*/ 332481 h 2974030"/>
              <a:gd name="connsiteX4" fmla="*/ 1123463 w 1611363"/>
              <a:gd name="connsiteY4" fmla="*/ 24763 h 2974030"/>
              <a:gd name="connsiteX5" fmla="*/ 1538770 w 1611363"/>
              <a:gd name="connsiteY5" fmla="*/ 2 h 2974030"/>
              <a:gd name="connsiteX6" fmla="*/ 1611363 w 1611363"/>
              <a:gd name="connsiteY6" fmla="*/ 2253 h 2974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1363" h="2974030">
                <a:moveTo>
                  <a:pt x="1611363" y="2253"/>
                </a:moveTo>
                <a:lnTo>
                  <a:pt x="1611363" y="2974030"/>
                </a:lnTo>
                <a:lnTo>
                  <a:pt x="0" y="371470"/>
                </a:lnTo>
                <a:lnTo>
                  <a:pt x="73655" y="332481"/>
                </a:lnTo>
                <a:cubicBezTo>
                  <a:pt x="395606" y="175647"/>
                  <a:pt x="749531" y="70004"/>
                  <a:pt x="1123463" y="24763"/>
                </a:cubicBezTo>
                <a:cubicBezTo>
                  <a:pt x="1261882" y="8016"/>
                  <a:pt x="1400570" y="-144"/>
                  <a:pt x="1538770" y="2"/>
                </a:cubicBezTo>
                <a:lnTo>
                  <a:pt x="1611363" y="22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9" name="Freeform: Shape 388">
            <a:extLst>
              <a:ext uri="{FF2B5EF4-FFF2-40B4-BE49-F238E27FC236}">
                <a16:creationId xmlns:a16="http://schemas.microsoft.com/office/drawing/2014/main" id="{10631717-9212-C597-3573-FC8CF61A92BA}"/>
              </a:ext>
            </a:extLst>
          </p:cNvPr>
          <p:cNvSpPr/>
          <p:nvPr/>
        </p:nvSpPr>
        <p:spPr>
          <a:xfrm rot="20395405">
            <a:off x="5848474" y="3067015"/>
            <a:ext cx="3058949" cy="2328167"/>
          </a:xfrm>
          <a:custGeom>
            <a:avLst/>
            <a:gdLst>
              <a:gd name="connsiteX0" fmla="*/ 2045476 w 2884627"/>
              <a:gd name="connsiteY0" fmla="*/ 0 h 2164141"/>
              <a:gd name="connsiteX1" fmla="*/ 2151505 w 2884627"/>
              <a:gd name="connsiteY1" fmla="*/ 96262 h 2164141"/>
              <a:gd name="connsiteX2" fmla="*/ 2297080 w 2884627"/>
              <a:gd name="connsiteY2" fmla="*/ 245532 h 2164141"/>
              <a:gd name="connsiteX3" fmla="*/ 2801947 w 2884627"/>
              <a:gd name="connsiteY3" fmla="*/ 967511 h 2164141"/>
              <a:gd name="connsiteX4" fmla="*/ 2884627 w 2884627"/>
              <a:gd name="connsiteY4" fmla="*/ 1142021 h 2164141"/>
              <a:gd name="connsiteX5" fmla="*/ 0 w 2884627"/>
              <a:gd name="connsiteY5" fmla="*/ 2164141 h 2164141"/>
              <a:gd name="connsiteX6" fmla="*/ 2045476 w 2884627"/>
              <a:gd name="connsiteY6" fmla="*/ 0 h 2164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4627" h="2164141">
                <a:moveTo>
                  <a:pt x="2045476" y="0"/>
                </a:moveTo>
                <a:lnTo>
                  <a:pt x="2151505" y="96262"/>
                </a:lnTo>
                <a:cubicBezTo>
                  <a:pt x="2201415" y="144409"/>
                  <a:pt x="2249972" y="194177"/>
                  <a:pt x="2297080" y="245532"/>
                </a:cubicBezTo>
                <a:cubicBezTo>
                  <a:pt x="2500841" y="467660"/>
                  <a:pt x="2669657" y="710846"/>
                  <a:pt x="2801947" y="967511"/>
                </a:cubicBezTo>
                <a:lnTo>
                  <a:pt x="2884627" y="1142021"/>
                </a:lnTo>
                <a:lnTo>
                  <a:pt x="0" y="2164141"/>
                </a:lnTo>
                <a:lnTo>
                  <a:pt x="2045476" y="0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6" name="Freeform: Shape 385">
            <a:extLst>
              <a:ext uri="{FF2B5EF4-FFF2-40B4-BE49-F238E27FC236}">
                <a16:creationId xmlns:a16="http://schemas.microsoft.com/office/drawing/2014/main" id="{7C24D6DA-84F0-9D1C-6B75-C27EC0E24772}"/>
              </a:ext>
            </a:extLst>
          </p:cNvPr>
          <p:cNvSpPr/>
          <p:nvPr/>
        </p:nvSpPr>
        <p:spPr>
          <a:xfrm rot="20395405">
            <a:off x="6265117" y="4694157"/>
            <a:ext cx="2608967" cy="1670430"/>
          </a:xfrm>
          <a:custGeom>
            <a:avLst/>
            <a:gdLst>
              <a:gd name="connsiteX0" fmla="*/ 2996191 w 3224988"/>
              <a:gd name="connsiteY0" fmla="*/ 0 h 2199952"/>
              <a:gd name="connsiteX1" fmla="*/ 3045382 w 3224988"/>
              <a:gd name="connsiteY1" fmla="*/ 124862 h 2199952"/>
              <a:gd name="connsiteX2" fmla="*/ 3036177 w 3224988"/>
              <a:gd name="connsiteY2" fmla="*/ 2199952 h 2199952"/>
              <a:gd name="connsiteX3" fmla="*/ 1422 w 3224988"/>
              <a:gd name="connsiteY3" fmla="*/ 1063946 h 2199952"/>
              <a:gd name="connsiteX4" fmla="*/ 0 w 3224988"/>
              <a:gd name="connsiteY4" fmla="*/ 1061650 h 2199952"/>
              <a:gd name="connsiteX5" fmla="*/ 2996191 w 3224988"/>
              <a:gd name="connsiteY5" fmla="*/ 0 h 219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24988" h="2199952">
                <a:moveTo>
                  <a:pt x="2996191" y="0"/>
                </a:moveTo>
                <a:lnTo>
                  <a:pt x="3045382" y="124862"/>
                </a:lnTo>
                <a:cubicBezTo>
                  <a:pt x="3283799" y="795482"/>
                  <a:pt x="3288975" y="1526655"/>
                  <a:pt x="3036177" y="2199952"/>
                </a:cubicBezTo>
                <a:lnTo>
                  <a:pt x="1422" y="1063946"/>
                </a:lnTo>
                <a:lnTo>
                  <a:pt x="0" y="1061650"/>
                </a:lnTo>
                <a:lnTo>
                  <a:pt x="299619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5" name="Freeform: Shape 384">
            <a:extLst>
              <a:ext uri="{FF2B5EF4-FFF2-40B4-BE49-F238E27FC236}">
                <a16:creationId xmlns:a16="http://schemas.microsoft.com/office/drawing/2014/main" id="{46044A47-4F46-0C0C-FA19-50A51F2ED2D3}"/>
              </a:ext>
            </a:extLst>
          </p:cNvPr>
          <p:cNvSpPr/>
          <p:nvPr/>
        </p:nvSpPr>
        <p:spPr>
          <a:xfrm rot="20395405">
            <a:off x="3144398" y="4103956"/>
            <a:ext cx="2695582" cy="2394673"/>
          </a:xfrm>
          <a:custGeom>
            <a:avLst/>
            <a:gdLst>
              <a:gd name="connsiteX0" fmla="*/ 1368881 w 3044295"/>
              <a:gd name="connsiteY0" fmla="*/ 0 h 2706013"/>
              <a:gd name="connsiteX1" fmla="*/ 3044295 w 3044295"/>
              <a:gd name="connsiteY1" fmla="*/ 2706013 h 2706013"/>
              <a:gd name="connsiteX2" fmla="*/ 0 w 3044295"/>
              <a:gd name="connsiteY2" fmla="*/ 1593369 h 2706013"/>
              <a:gd name="connsiteX3" fmla="*/ 1343970 w 3044295"/>
              <a:gd name="connsiteY3" fmla="*/ 13186 h 2706013"/>
              <a:gd name="connsiteX4" fmla="*/ 1368881 w 3044295"/>
              <a:gd name="connsiteY4" fmla="*/ 0 h 2706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295" h="2706013">
                <a:moveTo>
                  <a:pt x="1368881" y="0"/>
                </a:moveTo>
                <a:lnTo>
                  <a:pt x="3044295" y="2706013"/>
                </a:lnTo>
                <a:lnTo>
                  <a:pt x="0" y="1593369"/>
                </a:lnTo>
                <a:cubicBezTo>
                  <a:pt x="246706" y="918358"/>
                  <a:pt x="726604" y="367072"/>
                  <a:pt x="1343970" y="13186"/>
                </a:cubicBezTo>
                <a:lnTo>
                  <a:pt x="136888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4BD154C3-E4DE-2500-0C92-519F97292DDF}"/>
              </a:ext>
            </a:extLst>
          </p:cNvPr>
          <p:cNvSpPr/>
          <p:nvPr/>
        </p:nvSpPr>
        <p:spPr>
          <a:xfrm>
            <a:off x="5876348" y="5480102"/>
            <a:ext cx="790575" cy="762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7DE559FB-DF9E-E657-501D-3AAA8E125495}"/>
              </a:ext>
            </a:extLst>
          </p:cNvPr>
          <p:cNvGrpSpPr/>
          <p:nvPr/>
        </p:nvGrpSpPr>
        <p:grpSpPr>
          <a:xfrm>
            <a:off x="398831" y="2728357"/>
            <a:ext cx="2645165" cy="3174490"/>
            <a:chOff x="280321" y="2627035"/>
            <a:chExt cx="2530143" cy="3431709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56C9D9B4-E4E6-3EA8-EDA7-03D0CA18F525}"/>
                </a:ext>
              </a:extLst>
            </p:cNvPr>
            <p:cNvSpPr txBox="1"/>
            <p:nvPr/>
          </p:nvSpPr>
          <p:spPr>
            <a:xfrm>
              <a:off x="280321" y="2730470"/>
              <a:ext cx="3726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1</a:t>
              </a:r>
              <a:endParaRPr lang="en-IN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5F476EF2-F539-2729-D667-91DC0B73099F}"/>
                </a:ext>
              </a:extLst>
            </p:cNvPr>
            <p:cNvSpPr txBox="1"/>
            <p:nvPr/>
          </p:nvSpPr>
          <p:spPr>
            <a:xfrm>
              <a:off x="703375" y="2627035"/>
              <a:ext cx="2107089" cy="3431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IO</a:t>
              </a:r>
              <a:r>
                <a:rPr lang="en-IN" dirty="0"/>
                <a:t> From Medical Insights</a:t>
              </a:r>
            </a:p>
            <a:p>
              <a:r>
                <a:rPr lang="en-IN" sz="1100" b="1" dirty="0"/>
                <a:t>Challenges: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The medical insights cover product perceptions unmet needs, or treatment barriers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Access and ability to extract data is highly limited to local IT with manual analysis line by line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100" dirty="0"/>
            </a:p>
            <a:p>
              <a:r>
                <a:rPr lang="en-IN" sz="1100" b="1" dirty="0"/>
                <a:t>OUTCOME: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Using NN ChatGPT, users can interact with medical insights in simple chat format. This tool solves tasks relevant for day today job.</a:t>
              </a:r>
            </a:p>
            <a:p>
              <a:endParaRPr lang="en-IN" sz="1600" dirty="0"/>
            </a:p>
          </p:txBody>
        </p:sp>
      </p:grpSp>
      <p:pic>
        <p:nvPicPr>
          <p:cNvPr id="419" name="Graphic 418" descr="Brain in head with solid fill">
            <a:extLst>
              <a:ext uri="{FF2B5EF4-FFF2-40B4-BE49-F238E27FC236}">
                <a16:creationId xmlns:a16="http://schemas.microsoft.com/office/drawing/2014/main" id="{A4BE472F-17CC-0F44-3A4D-BC7CEEC8E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2208" y="4016233"/>
            <a:ext cx="598739" cy="598739"/>
          </a:xfrm>
          <a:prstGeom prst="rect">
            <a:avLst/>
          </a:prstGeom>
        </p:spPr>
      </p:pic>
      <p:pic>
        <p:nvPicPr>
          <p:cNvPr id="421" name="Graphic 420" descr="Heart with pulse with solid fill">
            <a:extLst>
              <a:ext uri="{FF2B5EF4-FFF2-40B4-BE49-F238E27FC236}">
                <a16:creationId xmlns:a16="http://schemas.microsoft.com/office/drawing/2014/main" id="{015684DD-B079-7D75-E1FF-4EA1C13F0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0672" y="4614972"/>
            <a:ext cx="615647" cy="615647"/>
          </a:xfrm>
          <a:prstGeom prst="rect">
            <a:avLst/>
          </a:prstGeom>
        </p:spPr>
      </p:pic>
      <p:grpSp>
        <p:nvGrpSpPr>
          <p:cNvPr id="422" name="Group 421">
            <a:extLst>
              <a:ext uri="{FF2B5EF4-FFF2-40B4-BE49-F238E27FC236}">
                <a16:creationId xmlns:a16="http://schemas.microsoft.com/office/drawing/2014/main" id="{E0EFB5C3-02E5-6BC2-7770-519DA0707232}"/>
              </a:ext>
            </a:extLst>
          </p:cNvPr>
          <p:cNvGrpSpPr/>
          <p:nvPr/>
        </p:nvGrpSpPr>
        <p:grpSpPr>
          <a:xfrm>
            <a:off x="2353976" y="852235"/>
            <a:ext cx="2338593" cy="2996361"/>
            <a:chOff x="126411" y="3138067"/>
            <a:chExt cx="3007282" cy="2893100"/>
          </a:xfrm>
        </p:grpSpPr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1FE3200A-184A-417B-A5D8-3A71181A36DB}"/>
                </a:ext>
              </a:extLst>
            </p:cNvPr>
            <p:cNvSpPr txBox="1"/>
            <p:nvPr/>
          </p:nvSpPr>
          <p:spPr>
            <a:xfrm>
              <a:off x="126411" y="3279570"/>
              <a:ext cx="3797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2</a:t>
              </a:r>
              <a:endParaRPr lang="en-IN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70F3CE93-05DC-B48C-E64A-3774952ED9DE}"/>
                </a:ext>
              </a:extLst>
            </p:cNvPr>
            <p:cNvSpPr txBox="1"/>
            <p:nvPr/>
          </p:nvSpPr>
          <p:spPr>
            <a:xfrm>
              <a:off x="589192" y="3138067"/>
              <a:ext cx="2544501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PO</a:t>
              </a:r>
              <a:br>
                <a:rPr lang="en-IN" sz="1600" b="1" dirty="0"/>
              </a:br>
              <a:r>
                <a:rPr lang="en-IN" sz="1100" b="1" dirty="0"/>
                <a:t>Challenges: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The medical insights cover product perceptions unmet needs, or treatment barriers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Access and ability to extract data is highly limited to local IT with manual analysis line by line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100" dirty="0"/>
            </a:p>
            <a:p>
              <a:r>
                <a:rPr lang="en-IN" sz="1100" b="1" dirty="0"/>
                <a:t>OUTCOME: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Using NN ChatGPT, users can interact with medical insights in simple chat format. This tool solves tasks relevant for day today job.</a:t>
              </a:r>
            </a:p>
            <a:p>
              <a:endParaRPr lang="en-IN" sz="1600" dirty="0"/>
            </a:p>
          </p:txBody>
        </p:sp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3E27C81B-6119-E244-FB73-003B41D815C5}"/>
              </a:ext>
            </a:extLst>
          </p:cNvPr>
          <p:cNvGrpSpPr/>
          <p:nvPr/>
        </p:nvGrpSpPr>
        <p:grpSpPr>
          <a:xfrm>
            <a:off x="4766291" y="140230"/>
            <a:ext cx="2592572" cy="3154710"/>
            <a:chOff x="126412" y="3205414"/>
            <a:chExt cx="1936862" cy="3154710"/>
          </a:xfrm>
        </p:grpSpPr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C5D569B6-571D-8AEB-3198-1C31178FDE24}"/>
                </a:ext>
              </a:extLst>
            </p:cNvPr>
            <p:cNvSpPr txBox="1"/>
            <p:nvPr/>
          </p:nvSpPr>
          <p:spPr>
            <a:xfrm>
              <a:off x="126412" y="3279570"/>
              <a:ext cx="2457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3</a:t>
              </a:r>
              <a:endParaRPr lang="en-IN" dirty="0"/>
            </a:p>
          </p:txBody>
        </p:sp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93DBDF18-9744-E551-3530-E467CE07BC20}"/>
                </a:ext>
              </a:extLst>
            </p:cNvPr>
            <p:cNvSpPr txBox="1"/>
            <p:nvPr/>
          </p:nvSpPr>
          <p:spPr>
            <a:xfrm>
              <a:off x="400240" y="3205414"/>
              <a:ext cx="1663034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Development</a:t>
              </a:r>
              <a:br>
                <a:rPr lang="en-IN" sz="1600" b="1" dirty="0"/>
              </a:br>
              <a:r>
                <a:rPr lang="en-IN" sz="1100" b="1" dirty="0"/>
                <a:t>Challenges: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The medical insights cover product perceptions unmet needs, or treatment barriers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Access and ability to extract data is highly limited to local IT with manual analysis line by line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100" dirty="0"/>
            </a:p>
            <a:p>
              <a:r>
                <a:rPr lang="en-IN" sz="1100" b="1" dirty="0"/>
                <a:t>OUTCOME: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Using NN ChatGPT, users can interact with medical insights in simple chat format. This tool solves tasks relevant for day today job.</a:t>
              </a:r>
            </a:p>
            <a:p>
              <a:endParaRPr lang="en-IN" sz="1600" dirty="0"/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71C45E06-2CF1-F181-3867-CC2D032C6273}"/>
              </a:ext>
            </a:extLst>
          </p:cNvPr>
          <p:cNvGrpSpPr/>
          <p:nvPr/>
        </p:nvGrpSpPr>
        <p:grpSpPr>
          <a:xfrm>
            <a:off x="7569600" y="399145"/>
            <a:ext cx="2592572" cy="3154710"/>
            <a:chOff x="126412" y="3205414"/>
            <a:chExt cx="1936862" cy="3154710"/>
          </a:xfrm>
        </p:grpSpPr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20D4BFB2-7C12-C7A0-476E-25474A93544A}"/>
                </a:ext>
              </a:extLst>
            </p:cNvPr>
            <p:cNvSpPr txBox="1"/>
            <p:nvPr/>
          </p:nvSpPr>
          <p:spPr>
            <a:xfrm>
              <a:off x="126412" y="3279570"/>
              <a:ext cx="2457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4</a:t>
              </a:r>
              <a:endParaRPr lang="en-IN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0B8749-9E11-B3AA-588B-8DE606FD2833}"/>
                </a:ext>
              </a:extLst>
            </p:cNvPr>
            <p:cNvSpPr txBox="1"/>
            <p:nvPr/>
          </p:nvSpPr>
          <p:spPr>
            <a:xfrm>
              <a:off x="400240" y="3205414"/>
              <a:ext cx="1663034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/>
                <a:t>Finance</a:t>
              </a:r>
              <a:br>
                <a:rPr lang="en-IN" sz="1600" b="1" dirty="0"/>
              </a:br>
              <a:r>
                <a:rPr lang="en-IN" sz="1100" b="1" dirty="0"/>
                <a:t>Challenges: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The medical insights cover product perceptions unmet needs, or treatment barriers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Access and ability to extract data is highly limited to local IT with manual analysis line by line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100" dirty="0"/>
            </a:p>
            <a:p>
              <a:r>
                <a:rPr lang="en-IN" sz="1100" b="1" dirty="0"/>
                <a:t>OUTCOME: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Using NN ChatGPT, users can interact with medical insights in simple chat format. This tool solves tasks relevant for day today job.</a:t>
              </a:r>
            </a:p>
            <a:p>
              <a:endParaRPr lang="en-IN" sz="1600" dirty="0"/>
            </a:p>
          </p:txBody>
        </p:sp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23D2FA20-78D9-740D-E081-490AFF490299}"/>
              </a:ext>
            </a:extLst>
          </p:cNvPr>
          <p:cNvGrpSpPr/>
          <p:nvPr/>
        </p:nvGrpSpPr>
        <p:grpSpPr>
          <a:xfrm>
            <a:off x="9048019" y="3150846"/>
            <a:ext cx="2592572" cy="3154710"/>
            <a:chOff x="126412" y="3205414"/>
            <a:chExt cx="1936862" cy="3154710"/>
          </a:xfrm>
        </p:grpSpPr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72A06FB9-C076-429E-E43C-4B56AA67C7F8}"/>
                </a:ext>
              </a:extLst>
            </p:cNvPr>
            <p:cNvSpPr txBox="1"/>
            <p:nvPr/>
          </p:nvSpPr>
          <p:spPr>
            <a:xfrm>
              <a:off x="126412" y="3279570"/>
              <a:ext cx="2457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/>
                <a:t>5</a:t>
              </a:r>
              <a:endParaRPr lang="en-IN" dirty="0"/>
            </a:p>
          </p:txBody>
        </p:sp>
        <p:sp>
          <p:nvSpPr>
            <p:cNvPr id="433" name="TextBox 432">
              <a:extLst>
                <a:ext uri="{FF2B5EF4-FFF2-40B4-BE49-F238E27FC236}">
                  <a16:creationId xmlns:a16="http://schemas.microsoft.com/office/drawing/2014/main" id="{0BE96B6F-8091-7834-ADF2-B1678927CE83}"/>
                </a:ext>
              </a:extLst>
            </p:cNvPr>
            <p:cNvSpPr txBox="1"/>
            <p:nvPr/>
          </p:nvSpPr>
          <p:spPr>
            <a:xfrm>
              <a:off x="400240" y="3205414"/>
              <a:ext cx="1663034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PS Quality &amp; IT</a:t>
              </a:r>
              <a:br>
                <a:rPr lang="en-IN" sz="1600" b="1" dirty="0"/>
              </a:br>
              <a:r>
                <a:rPr lang="en-IN" sz="1100" b="1" dirty="0"/>
                <a:t>Challenges: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The medical insights cover product perceptions unmet needs, or treatment barriers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Access and ability to extract data is highly limited to local IT with manual analysis line by line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100" dirty="0"/>
            </a:p>
            <a:p>
              <a:r>
                <a:rPr lang="en-IN" sz="1100" b="1" dirty="0"/>
                <a:t>OUTCOME: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100" dirty="0"/>
                <a:t>Using NN ChatGPT, users can interact with medical insights in simple chat format. This tool solves tasks relevant for day today job.</a:t>
              </a:r>
            </a:p>
            <a:p>
              <a:endParaRPr lang="en-IN" sz="1600" dirty="0"/>
            </a:p>
          </p:txBody>
        </p:sp>
      </p:grpSp>
      <p:pic>
        <p:nvPicPr>
          <p:cNvPr id="437" name="Graphic 436" descr="Money with solid fill">
            <a:extLst>
              <a:ext uri="{FF2B5EF4-FFF2-40B4-BE49-F238E27FC236}">
                <a16:creationId xmlns:a16="http://schemas.microsoft.com/office/drawing/2014/main" id="{684F23BE-C273-F38D-F1BC-A3AAA592F4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8976" y="3309542"/>
            <a:ext cx="539054" cy="539054"/>
          </a:xfrm>
          <a:prstGeom prst="rect">
            <a:avLst/>
          </a:prstGeom>
        </p:spPr>
      </p:pic>
      <p:pic>
        <p:nvPicPr>
          <p:cNvPr id="441" name="Graphic 440" descr="Business Growth with solid fill">
            <a:extLst>
              <a:ext uri="{FF2B5EF4-FFF2-40B4-BE49-F238E27FC236}">
                <a16:creationId xmlns:a16="http://schemas.microsoft.com/office/drawing/2014/main" id="{A786D26A-5DCD-1B9E-D476-AF60DB4F59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3511" y="3212499"/>
            <a:ext cx="803024" cy="803024"/>
          </a:xfrm>
          <a:prstGeom prst="rect">
            <a:avLst/>
          </a:prstGeom>
        </p:spPr>
      </p:pic>
      <p:pic>
        <p:nvPicPr>
          <p:cNvPr id="447" name="Graphic 446" descr="Head with gears with solid fill">
            <a:extLst>
              <a:ext uri="{FF2B5EF4-FFF2-40B4-BE49-F238E27FC236}">
                <a16:creationId xmlns:a16="http://schemas.microsoft.com/office/drawing/2014/main" id="{4A5761A4-8148-EB48-C43B-E850F227C7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30000" y="4915209"/>
            <a:ext cx="630819" cy="63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3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" grpId="0" animBg="1"/>
      <p:bldP spid="390" grpId="0" animBg="1"/>
      <p:bldP spid="389" grpId="0" animBg="1"/>
      <p:bldP spid="386" grpId="0" animBg="1"/>
      <p:bldP spid="38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315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Banu Nepy</dc:creator>
  <cp:lastModifiedBy>Banu Nepy</cp:lastModifiedBy>
  <cp:revision>5</cp:revision>
  <dcterms:created xsi:type="dcterms:W3CDTF">2024-07-13T16:20:28Z</dcterms:created>
  <dcterms:modified xsi:type="dcterms:W3CDTF">2024-07-13T19:01:57Z</dcterms:modified>
</cp:coreProperties>
</file>